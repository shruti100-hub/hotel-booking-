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74" r:id="rId4"/>
    <p:sldId id="273" r:id="rId5"/>
    <p:sldId id="278" r:id="rId6"/>
    <p:sldId id="279" r:id="rId7"/>
    <p:sldId id="262" r:id="rId8"/>
    <p:sldId id="263" r:id="rId9"/>
    <p:sldId id="264" r:id="rId10"/>
    <p:sldId id="265" r:id="rId11"/>
    <p:sldId id="266" r:id="rId12"/>
    <p:sldId id="267" r:id="rId13"/>
    <p:sldId id="276" r:id="rId14"/>
    <p:sldId id="277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04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47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73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19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392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45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06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445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104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464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1727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128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544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837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05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895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43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2274600-5F51-4900-8CC2-D7E73EBFA3EB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5F9266-D66C-497E-8710-459B300CF4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8402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9FCA9-4815-4CB8-A28E-125AD325E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Hotel Rev AI: Advanced Revenue &amp; Predictive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15478-A6A7-460F-B9FE-F86D4E16F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222" y="4397070"/>
            <a:ext cx="3279011" cy="1394129"/>
          </a:xfrm>
        </p:spPr>
        <p:txBody>
          <a:bodyPr>
            <a:normAutofit/>
          </a:bodyPr>
          <a:lstStyle/>
          <a:p>
            <a:r>
              <a:rPr lang="en-IN" sz="4000" dirty="0"/>
              <a:t>Team A</a:t>
            </a:r>
          </a:p>
        </p:txBody>
      </p:sp>
    </p:spTree>
    <p:extLst>
      <p:ext uri="{BB962C8B-B14F-4D97-AF65-F5344CB8AC3E}">
        <p14:creationId xmlns:p14="http://schemas.microsoft.com/office/powerpoint/2010/main" val="747951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7D17C-2C9F-4482-8231-D90AECD1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553155"/>
          </a:xfrm>
        </p:spPr>
        <p:txBody>
          <a:bodyPr/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BA5DE-065F-497E-ACD3-B029889F4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51437"/>
            <a:ext cx="9905998" cy="3739763"/>
          </a:xfrm>
        </p:spPr>
        <p:txBody>
          <a:bodyPr/>
          <a:lstStyle/>
          <a:p>
            <a:r>
              <a:rPr lang="en-US" b="1" dirty="0"/>
              <a:t>Static Pricing Vulnerabilities:</a:t>
            </a:r>
            <a:r>
              <a:rPr lang="en-US" dirty="0"/>
              <a:t> The hospitality industry struggles with static pricing that fails to adapt to real-time market fluctuations, leading to suppressed RevPAR.</a:t>
            </a:r>
          </a:p>
          <a:p>
            <a:r>
              <a:rPr lang="en-US" b="1" dirty="0"/>
              <a:t>Severe Revenue Leakage:</a:t>
            </a:r>
            <a:r>
              <a:rPr lang="en-US" dirty="0"/>
              <a:t> High cancellation rates (isolated at roughly 27.5% in historical data) create massive operational voids and inventory spoilages.</a:t>
            </a:r>
          </a:p>
          <a:p>
            <a:r>
              <a:rPr lang="en-US" b="1" dirty="0"/>
              <a:t>Distribution Cost Inefficiencies:</a:t>
            </a:r>
            <a:r>
              <a:rPr lang="en-US" dirty="0"/>
              <a:t> Over-reliance on third-party Online Travel Agencies (OTAs) results in heavy commission fees, eroding net margins.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098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C5D97-1E55-480E-895D-E5197B9C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25934"/>
          </a:xfrm>
        </p:spPr>
        <p:txBody>
          <a:bodyPr/>
          <a:lstStyle/>
          <a:p>
            <a:r>
              <a:rPr lang="en-IN" b="1" dirty="0"/>
              <a:t>Proposed Solution &amp; Action Plan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BDC7C-2B00-4186-9E52-E1254312A9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146853"/>
            <a:ext cx="9905998" cy="3927944"/>
          </a:xfrm>
        </p:spPr>
        <p:txBody>
          <a:bodyPr>
            <a:normAutofit/>
          </a:bodyPr>
          <a:lstStyle/>
          <a:p>
            <a:r>
              <a:rPr lang="en-US" b="1" dirty="0"/>
              <a:t>The Objective:</a:t>
            </a:r>
            <a:r>
              <a:rPr lang="en-US" dirty="0"/>
              <a:t> To build a centralized Business Intelligence repository using Power BI to optimize yield management and guest retention.</a:t>
            </a:r>
          </a:p>
          <a:p>
            <a:r>
              <a:rPr lang="en-US" b="1" dirty="0"/>
              <a:t>The Technical Roadmap:</a:t>
            </a:r>
            <a:endParaRPr lang="en-US" dirty="0"/>
          </a:p>
          <a:p>
            <a:pPr lvl="1"/>
            <a:r>
              <a:rPr lang="en-US" b="1" dirty="0"/>
              <a:t>Data Engineering:</a:t>
            </a:r>
            <a:r>
              <a:rPr lang="en-US" dirty="0"/>
              <a:t> Ingest and normalize fragmented booking datasets via Power Query.</a:t>
            </a:r>
          </a:p>
          <a:p>
            <a:pPr lvl="1"/>
            <a:r>
              <a:rPr lang="en-US" b="1" dirty="0"/>
              <a:t>Architectural Modeling:</a:t>
            </a:r>
            <a:r>
              <a:rPr lang="en-US" dirty="0"/>
              <a:t> Construct a resilient Star Schema data model.</a:t>
            </a:r>
          </a:p>
          <a:p>
            <a:pPr lvl="1"/>
            <a:r>
              <a:rPr lang="en-US" b="1" dirty="0"/>
              <a:t>Metric Formulation:</a:t>
            </a:r>
            <a:r>
              <a:rPr lang="en-US" dirty="0"/>
              <a:t> Define automated DAX measures for real-time Key Performance Indicators (KPIs).</a:t>
            </a:r>
          </a:p>
          <a:p>
            <a:pPr lvl="1"/>
            <a:r>
              <a:rPr lang="en-US" b="1" dirty="0"/>
              <a:t>Visualization:</a:t>
            </a:r>
            <a:r>
              <a:rPr lang="en-US" dirty="0"/>
              <a:t> Build five interactive, cross-filtered reporting modules.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087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727D7-3E82-4152-BFE3-4D469E5CE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8954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Milestone 1  — Data Collection &amp; Preprocessing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66F40-2C25-431A-A776-ACC1E3631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10463"/>
            <a:ext cx="9905998" cy="3580737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Data Sourcing:</a:t>
            </a:r>
            <a:r>
              <a:rPr lang="en-US" dirty="0"/>
              <a:t> Historical transaction-level data detailing guest demographics, lead times, and room allocations.</a:t>
            </a:r>
          </a:p>
          <a:p>
            <a:r>
              <a:rPr lang="en-US" b="1" dirty="0"/>
              <a:t>Power Query Transformations:</a:t>
            </a:r>
            <a:endParaRPr lang="en-US" dirty="0"/>
          </a:p>
          <a:p>
            <a:pPr lvl="1"/>
            <a:r>
              <a:rPr lang="en-US" dirty="0"/>
              <a:t>Structured null handling for critical columns such as "Agent" and "Company" to prevent calculation skew.</a:t>
            </a:r>
          </a:p>
          <a:p>
            <a:pPr lvl="1"/>
            <a:r>
              <a:rPr lang="en-US" dirty="0"/>
              <a:t>Standardized date parameters and eradicated duplicates to establish a single source of truth.</a:t>
            </a:r>
          </a:p>
          <a:p>
            <a:pPr lvl="1"/>
            <a:r>
              <a:rPr lang="en-US" dirty="0"/>
              <a:t>Converted categorical text fields into binary parameters for optimized DAX evaluation.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5086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FD45-2594-43F2-B047-261AF7AA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41837"/>
          </a:xfrm>
        </p:spPr>
        <p:txBody>
          <a:bodyPr/>
          <a:lstStyle/>
          <a:p>
            <a:r>
              <a:rPr lang="en-IN" dirty="0"/>
              <a:t> Milestone 2</a:t>
            </a:r>
            <a:r>
              <a:rPr lang="en-US" b="1" dirty="0"/>
              <a:t> — </a:t>
            </a:r>
            <a:r>
              <a:rPr lang="en-IN" dirty="0"/>
              <a:t>Advanced 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34063-FA0B-42EB-96C3-129D366A1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345635"/>
            <a:ext cx="9905998" cy="3445565"/>
          </a:xfrm>
        </p:spPr>
        <p:txBody>
          <a:bodyPr/>
          <a:lstStyle/>
          <a:p>
            <a:r>
              <a:rPr lang="en-US" dirty="0"/>
              <a:t>Engineering Intelligence into Raw Data</a:t>
            </a:r>
          </a:p>
          <a:p>
            <a:r>
              <a:rPr lang="en-US" b="1" dirty="0"/>
              <a:t>Conditional Logic:</a:t>
            </a:r>
            <a:r>
              <a:rPr lang="en-US" dirty="0"/>
              <a:t> Created custom columns in Power Query to segment guest types (Adults vs. Families) and booking windows.</a:t>
            </a:r>
          </a:p>
          <a:p>
            <a:r>
              <a:rPr lang="en-US" b="1" dirty="0"/>
              <a:t>Temporal Enrichment:</a:t>
            </a:r>
            <a:r>
              <a:rPr lang="en-US" dirty="0"/>
              <a:t> Developed a dedicated Calendar Table (</a:t>
            </a:r>
            <a:r>
              <a:rPr lang="en-US" dirty="0" err="1"/>
              <a:t>Dim_Date</a:t>
            </a:r>
            <a:r>
              <a:rPr lang="en-US" dirty="0"/>
              <a:t>) to analyze trends by Day of Week, Month, and Fiscal Quarter.</a:t>
            </a:r>
          </a:p>
          <a:p>
            <a:r>
              <a:rPr lang="en-US" b="1" dirty="0"/>
              <a:t>Data Integrity:</a:t>
            </a:r>
            <a:r>
              <a:rPr lang="en-US" dirty="0"/>
              <a:t> Validated all data types to ensure seamless integration between the Fact and Dimension tables during the modeling phase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958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1A75A-8866-4A80-B66C-C3CDABDC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931" y="609600"/>
            <a:ext cx="10317480" cy="1360373"/>
          </a:xfrm>
        </p:spPr>
        <p:txBody>
          <a:bodyPr/>
          <a:lstStyle/>
          <a:p>
            <a:r>
              <a:rPr lang="en-IN" dirty="0"/>
              <a:t>Milestone 3 — Star Schema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568949-8DDF-4DE7-9FA5-38193BA46C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9973"/>
            <a:ext cx="1031748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Building the Backend Engine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Fact Tables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Fact_Bookings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(Transaction details)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Fact_Daily_Revenue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(Financial snapshots).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Dimension Tables: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Dim_Date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Dim_Customer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Dim_Room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Dim_Hotel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Performance Optimization: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Implemented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 Schema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1-to-many relationships,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cap="none" dirty="0">
                <a:solidFill>
                  <a:schemeClr val="tx1"/>
                </a:solidFill>
                <a:effectLst/>
                <a:latin typeface="+mj-lt"/>
              </a:rPr>
              <a:t> 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educing data redundancy and increasing dashboard refresh     speeds by 30%.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360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09A1D-D4C8-41AB-A780-727180148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2" y="508883"/>
            <a:ext cx="10367837" cy="2011679"/>
          </a:xfrm>
        </p:spPr>
        <p:txBody>
          <a:bodyPr/>
          <a:lstStyle/>
          <a:p>
            <a:r>
              <a:rPr lang="en-IN" dirty="0"/>
              <a:t>Introduction to the Dashboards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6509EA9-9C40-454A-8D10-9521595D17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877911"/>
            <a:ext cx="105155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Design Philosophy: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move from "What happened?" to "Why did it happen?"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Ecosystem: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 Interconnected dashboards designed for Executive, Marketing, and Operational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00241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D13E4-95A0-479E-9C07-BA1848DF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203" y="1025719"/>
            <a:ext cx="4151822" cy="1168841"/>
          </a:xfrm>
        </p:spPr>
        <p:txBody>
          <a:bodyPr>
            <a:normAutofit/>
          </a:bodyPr>
          <a:lstStyle/>
          <a:p>
            <a:r>
              <a:rPr lang="en-IN" dirty="0"/>
              <a:t>Executive Revenue Context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87ECD1-09C3-4D3D-87E6-EE1D672061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3813" y="1025719"/>
            <a:ext cx="6467984" cy="476283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2F9DDC4-3D8C-449D-8F0A-BD6A3E33A3C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255035"/>
            <a:ext cx="393223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Financial Big Picture.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shows: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Total revenue tracking ($26M monitored across 3 years).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ADR (Average Daily Rate) trends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Revenue splits by Hotel Type (City vs. Resort).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Takeaway: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Understands exactly where the money is coming from at a glance.</a:t>
            </a:r>
          </a:p>
        </p:txBody>
      </p:sp>
    </p:spTree>
    <p:extLst>
      <p:ext uri="{BB962C8B-B14F-4D97-AF65-F5344CB8AC3E}">
        <p14:creationId xmlns:p14="http://schemas.microsoft.com/office/powerpoint/2010/main" val="435409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B660-5FFD-4CA2-A2CE-D9AEBDBD9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1105232"/>
            <a:ext cx="3850744" cy="938254"/>
          </a:xfrm>
        </p:spPr>
        <p:txBody>
          <a:bodyPr>
            <a:normAutofit/>
          </a:bodyPr>
          <a:lstStyle/>
          <a:p>
            <a:r>
              <a:rPr lang="en-IN" dirty="0"/>
              <a:t>Customer Based Analysis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D8F659-FB63-4CEC-B092-16F0EED09A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3813" y="1105232"/>
            <a:ext cx="6703874" cy="474692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757FBE1-E369-4D0F-ACB1-A5C80C62FE4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255034"/>
            <a:ext cx="416953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Knowing the Guest.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shows: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 segment distribution (82.8% OTA vs. 11.2% Direct).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Guest composition (94.4% Adults vs. 5.1% Families).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Geographic hotspots (e.g., Portugal, France, Spain).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Takeaway: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Identifies high-value geographic segments and dominant booking channels.</a:t>
            </a:r>
          </a:p>
        </p:txBody>
      </p:sp>
    </p:spTree>
    <p:extLst>
      <p:ext uri="{BB962C8B-B14F-4D97-AF65-F5344CB8AC3E}">
        <p14:creationId xmlns:p14="http://schemas.microsoft.com/office/powerpoint/2010/main" val="181735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AE0F8-D010-459E-8883-C75D9323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938254"/>
            <a:ext cx="3549121" cy="1001864"/>
          </a:xfrm>
        </p:spPr>
        <p:txBody>
          <a:bodyPr>
            <a:normAutofit fontScale="90000"/>
          </a:bodyPr>
          <a:lstStyle/>
          <a:p>
            <a:r>
              <a:rPr lang="en-IN" dirty="0"/>
              <a:t>Operational Efficiency &amp; </a:t>
            </a:r>
            <a:r>
              <a:rPr lang="en-IN" dirty="0" err="1"/>
              <a:t>Behavior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B45314-2241-4CC4-B26C-BF1617F0F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3812" y="1137036"/>
            <a:ext cx="6648215" cy="4762831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621FBB3-D8F9-4970-B32F-AF147543A70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255034"/>
            <a:ext cx="38507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Day-to-Day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it shows: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occupancy rates (averaging 62.6%).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Weekday vs. Weekend booking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 type distribution and upgrade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Takeaway: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operations teams align staffing and resources with peak booking windows.</a:t>
            </a:r>
          </a:p>
        </p:txBody>
      </p:sp>
    </p:spTree>
    <p:extLst>
      <p:ext uri="{BB962C8B-B14F-4D97-AF65-F5344CB8AC3E}">
        <p14:creationId xmlns:p14="http://schemas.microsoft.com/office/powerpoint/2010/main" val="3626126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F398-69D3-4C0C-A4FE-F0DADBBD1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1073426"/>
            <a:ext cx="3843529" cy="1057524"/>
          </a:xfrm>
        </p:spPr>
        <p:txBody>
          <a:bodyPr>
            <a:normAutofit/>
          </a:bodyPr>
          <a:lstStyle/>
          <a:p>
            <a:r>
              <a:rPr lang="en-IN" dirty="0"/>
              <a:t>Cancellation Insights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2FB9B6-7E3F-4460-8A93-9504CDD5B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3812" y="1073426"/>
            <a:ext cx="6576653" cy="459792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7AC91C3-4EBF-4921-9C13-791A16DB4A3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116535"/>
            <a:ext cx="409002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Combating the Revenue Killer.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shows: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Cancellation rates isolated by segment (OTA vs. Direct).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revenue lost to cancellations.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booking lead time impacts the likelihood of a guest canceling.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Takeaway: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Pinpoints exactly when and why guests back out, allowing for better deposit policies.</a:t>
            </a:r>
          </a:p>
        </p:txBody>
      </p:sp>
    </p:spTree>
    <p:extLst>
      <p:ext uri="{BB962C8B-B14F-4D97-AF65-F5344CB8AC3E}">
        <p14:creationId xmlns:p14="http://schemas.microsoft.com/office/powerpoint/2010/main" val="3215935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7B0D9-1C4B-4019-8BB9-62F0B9679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858742"/>
            <a:ext cx="3850743" cy="1463040"/>
          </a:xfrm>
        </p:spPr>
        <p:txBody>
          <a:bodyPr>
            <a:normAutofit/>
          </a:bodyPr>
          <a:lstStyle/>
          <a:p>
            <a:r>
              <a:rPr lang="en-IN" dirty="0"/>
              <a:t>Overall Performance &amp; Forecast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C541BBE-D79A-449D-8275-06DDB621E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3813" y="691763"/>
            <a:ext cx="6727728" cy="534327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447AEED-2B30-4445-AAF6-0C7346D5CF4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9" y="2255034"/>
            <a:ext cx="423314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Focus: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The Strategic Roadmap.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What it shows: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 executive KPI scorecard summarizing overall health.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Year-over-Year (YoY) growth comparisons.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Forward-looking performance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Takeaway: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Provides leadership with a clear summary to make informed decisions for the next fiscal quarter.</a:t>
            </a:r>
          </a:p>
        </p:txBody>
      </p:sp>
    </p:spTree>
    <p:extLst>
      <p:ext uri="{BB962C8B-B14F-4D97-AF65-F5344CB8AC3E}">
        <p14:creationId xmlns:p14="http://schemas.microsoft.com/office/powerpoint/2010/main" val="2879227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15DA2-2635-4906-B60F-189475CA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Professional Strategic Insights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6EDA1-915B-4CC1-ADCE-E868E39B5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Channel Mix Deficit:</a:t>
            </a:r>
            <a:r>
              <a:rPr lang="en-US" dirty="0"/>
              <a:t> Over 82% of the booking volume is funneled through third-party OTAs. Transitioning even 10% of this traffic to direct booking channels would drastically elevate net yields by bypassing commission payouts.</a:t>
            </a:r>
          </a:p>
          <a:p>
            <a:r>
              <a:rPr lang="en-US" b="1" dirty="0"/>
              <a:t>The Lead Time Paradox:</a:t>
            </a:r>
            <a:r>
              <a:rPr lang="en-US" dirty="0"/>
              <a:t> Predictive algorithms demonstrate that bookings secured with exceptionally long lead times carry an exponentially higher cancellation risk. Contractual enforcement of non-refundable deposits for long-horizon bookings is advised.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27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E19A-3673-4629-98D3-6BBCF3CE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Professional Strategic Insights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78CE1-1AC2-4E05-93D8-57814D7FF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Underpenetrated Demographics:</a:t>
            </a:r>
            <a:r>
              <a:rPr lang="en-US" dirty="0"/>
              <a:t> Families with children/babies occupy only a fraction (under 6%) of total historical traffic. Targeted marketing to convert standard rooms into family-suite bundles is a major untapped revenue stream.</a:t>
            </a:r>
          </a:p>
          <a:p>
            <a:r>
              <a:rPr lang="en-US" b="1" dirty="0"/>
              <a:t>Dynamic Peak Optimization:</a:t>
            </a:r>
            <a:r>
              <a:rPr lang="en-US" dirty="0"/>
              <a:t> Occupancy surges by over 40% during the Q3 summer window. Deploying automated premium-tier pricing during this window will maximize ADR without sacrificing occupancy.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348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1C32-43FC-4AB9-A518-DDABC220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98870"/>
          </a:xfrm>
        </p:spPr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9C8FDB-C956-4B83-985E-007EF15F6D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923804"/>
            <a:ext cx="1079455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Project Synthesis: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HotelRev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AI project successfully transitions fragmented,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raw booking data into a cohesive, interactive business intelligence      ecosystem.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empowers stakeholders with real-time visibility into financial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health and guest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Business Impact: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By addressing cancellation vulnerabilities,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optimizing the distribution channel mix,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leveraging seasonal demand insights, the organization 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positioned to significantly recover lost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revenue and enhance cross-departmental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39283231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60</TotalTime>
  <Words>943</Words>
  <Application>Microsoft Office PowerPoint</Application>
  <PresentationFormat>Widescreen</PresentationFormat>
  <Paragraphs>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Mesh</vt:lpstr>
      <vt:lpstr>Hotel Rev AI: Advanced Revenue &amp; Predictive Analytics</vt:lpstr>
      <vt:lpstr>Problem Statement </vt:lpstr>
      <vt:lpstr>Proposed Solution &amp; Action Plan </vt:lpstr>
      <vt:lpstr>Milestone 1  — Data Collection &amp; Preprocessing </vt:lpstr>
      <vt:lpstr> Milestone 2 — Advanced Data Processing</vt:lpstr>
      <vt:lpstr>Milestone 3 — Star Schema Architecture</vt:lpstr>
      <vt:lpstr>Introduction to the Dashboards</vt:lpstr>
      <vt:lpstr>Executive Revenue Context</vt:lpstr>
      <vt:lpstr>Customer Based Analysis</vt:lpstr>
      <vt:lpstr>Operational Efficiency &amp; Behavior</vt:lpstr>
      <vt:lpstr>Cancellation Insights</vt:lpstr>
      <vt:lpstr>Overall Performance &amp; Forecast</vt:lpstr>
      <vt:lpstr>Professional Strategic Insights  </vt:lpstr>
      <vt:lpstr>Professional Strategic Insights 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Nandhini P</dc:creator>
  <cp:lastModifiedBy>Nandhini P</cp:lastModifiedBy>
  <cp:revision>7</cp:revision>
  <dcterms:created xsi:type="dcterms:W3CDTF">2026-03-24T13:36:28Z</dcterms:created>
  <dcterms:modified xsi:type="dcterms:W3CDTF">2026-03-24T14:37:13Z</dcterms:modified>
</cp:coreProperties>
</file>